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253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961120" y="182880"/>
            <a:ext cx="2743200" cy="6400800"/>
          </a:xfrm>
          <a:prstGeom prst="rect">
            <a:avLst/>
          </a:prstGeom>
          <a:solidFill>
            <a:srgbClr val="1C38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281160" y="182880"/>
            <a:ext cx="54864" cy="6400800"/>
          </a:xfrm>
          <a:prstGeom prst="rect">
            <a:avLst/>
          </a:prstGeom>
          <a:solidFill>
            <a:srgbClr val="D297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51560"/>
            <a:ext cx="7772400" cy="7315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3400" b="1">
                <a:solidFill>
                  <a:srgbClr val="F6EFE5"/>
                </a:solidFill>
                <a:latin typeface="Aptos Display"/>
              </a:defRPr>
            </a:pPr>
            <a:r>
              <a:t>ANÁLISE COMERCIAL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58952" y="1874519"/>
            <a:ext cx="7132320" cy="38404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300" b="1">
                <a:solidFill>
                  <a:srgbClr val="D2974B"/>
                </a:solidFill>
                <a:latin typeface="Aptos"/>
              </a:defRPr>
            </a:pPr>
            <a:r>
              <a:t>PROJETO DE PORTFÓLIO  |  SQL SERVER • POWER BI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" y="2606040"/>
            <a:ext cx="6766560" cy="10058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2300" b="0">
                <a:solidFill>
                  <a:srgbClr val="F6EFE5"/>
                </a:solidFill>
                <a:latin typeface="Aptos"/>
              </a:defRPr>
            </a:pPr>
            <a:r>
              <a:t>Da consulta de dados à tomada de decisão comercial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58952" y="4069080"/>
            <a:ext cx="6720840" cy="1143000"/>
          </a:xfrm>
          <a:prstGeom prst="roundRect">
            <a:avLst/>
          </a:prstGeom>
          <a:solidFill>
            <a:srgbClr val="F6EFE5"/>
          </a:solidFill>
          <a:ln>
            <a:solidFill>
              <a:srgbClr val="D297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87552" y="4270248"/>
            <a:ext cx="626364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000" b="1">
                <a:solidFill>
                  <a:srgbClr val="D2974B"/>
                </a:solidFill>
                <a:latin typeface="Aptos"/>
              </a:defRPr>
            </a:pPr>
            <a:r>
              <a:t>OBJETIVO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87552" y="4572000"/>
            <a:ext cx="6263640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500" b="1">
                <a:solidFill>
                  <a:srgbClr val="0D2536"/>
                </a:solidFill>
                <a:latin typeface="Aptos"/>
              </a:defRPr>
            </a:pPr>
            <a:r>
              <a:t>Analisar vendas, desempenho das lojas e rentabilidade para identificar oportunidades de melhoria.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8952" y="6172200"/>
            <a:ext cx="685800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000" b="1">
                <a:solidFill>
                  <a:srgbClr val="CAD6DB"/>
                </a:solidFill>
                <a:latin typeface="Aptos"/>
              </a:defRPr>
            </a:pPr>
            <a:r>
              <a:t>VENDAS  •  PRODUTOS  •  CLIENTES  •  LOJAS  •  RENTABILIDADE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555480" y="5440680"/>
            <a:ext cx="2103120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defRPr sz="1500" b="1">
                <a:solidFill>
                  <a:srgbClr val="F6EFE5"/>
                </a:solidFill>
                <a:latin typeface="Aptos"/>
              </a:defRPr>
            </a:pPr>
            <a:r>
              <a:t>DADOS → INSIGHTS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253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D297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8961120" cy="4389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2500" b="1">
                <a:solidFill>
                  <a:srgbClr val="F6EFE5"/>
                </a:solidFill>
                <a:latin typeface="Aptos Display"/>
              </a:defRPr>
            </a:pPr>
            <a:r>
              <a:t>Visão geral dos resultados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749808"/>
            <a:ext cx="960120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900" b="1">
                <a:solidFill>
                  <a:srgbClr val="D2974B"/>
                </a:solidFill>
                <a:latin typeface="Aptos"/>
              </a:defRPr>
            </a:pPr>
            <a:r>
              <a:t>INDICADORES APRESENTADOS NO DASHBOARD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6510528"/>
            <a:ext cx="59436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defRPr sz="800" b="1">
                <a:solidFill>
                  <a:srgbClr val="CAD6DB"/>
                </a:solidFill>
                <a:latin typeface="Aptos"/>
              </a:defRPr>
            </a:pPr>
            <a:r>
              <a:t>02/06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325880"/>
            <a:ext cx="3246120" cy="1143000"/>
          </a:xfrm>
          <a:prstGeom prst="roundRect">
            <a:avLst/>
          </a:prstGeom>
          <a:solidFill>
            <a:srgbClr val="F6EFE5"/>
          </a:solidFill>
          <a:ln>
            <a:solidFill>
              <a:srgbClr val="D297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58952" y="1472184"/>
            <a:ext cx="2907792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900" b="1">
                <a:solidFill>
                  <a:srgbClr val="D2974B"/>
                </a:solidFill>
                <a:latin typeface="Aptos"/>
              </a:defRPr>
            </a:pPr>
            <a:r>
              <a:t>FATURAMENTO TOTAL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58952" y="1746504"/>
            <a:ext cx="2907792" cy="34747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2000" b="1">
                <a:solidFill>
                  <a:srgbClr val="0D2536"/>
                </a:solidFill>
                <a:latin typeface="Aptos"/>
              </a:defRPr>
            </a:pPr>
            <a:r>
              <a:t>R$ 13.661.327,09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8952" y="2148840"/>
            <a:ext cx="2907792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800" b="0">
                <a:solidFill>
                  <a:srgbClr val="1C3849"/>
                </a:solidFill>
                <a:latin typeface="Aptos"/>
              </a:defRPr>
            </a:pPr>
            <a:r>
              <a:t>Valor exibido no dashboard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80560" y="1325880"/>
            <a:ext cx="3246120" cy="1143000"/>
          </a:xfrm>
          <a:prstGeom prst="roundRect">
            <a:avLst/>
          </a:prstGeom>
          <a:solidFill>
            <a:srgbClr val="F6EFE5"/>
          </a:solidFill>
          <a:ln>
            <a:solidFill>
              <a:srgbClr val="D297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45152" y="1472184"/>
            <a:ext cx="2907792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900" b="1">
                <a:solidFill>
                  <a:srgbClr val="D2974B"/>
                </a:solidFill>
                <a:latin typeface="Aptos"/>
              </a:defRPr>
            </a:pPr>
            <a:r>
              <a:t>PEDIDOS ENTREGUES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45152" y="1746504"/>
            <a:ext cx="2907792" cy="34747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2000" b="1">
                <a:solidFill>
                  <a:srgbClr val="0D2536"/>
                </a:solidFill>
                <a:latin typeface="Aptos"/>
              </a:defRPr>
            </a:pPr>
            <a:r>
              <a:t>1.473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45152" y="2148840"/>
            <a:ext cx="2907792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800" b="0">
                <a:solidFill>
                  <a:srgbClr val="1C3849"/>
                </a:solidFill>
                <a:latin typeface="Aptos"/>
              </a:defRPr>
            </a:pPr>
            <a:r>
              <a:t>Pedidos com status entregue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366760" y="1325880"/>
            <a:ext cx="3246120" cy="1143000"/>
          </a:xfrm>
          <a:prstGeom prst="roundRect">
            <a:avLst/>
          </a:prstGeom>
          <a:solidFill>
            <a:srgbClr val="F6EFE5"/>
          </a:solidFill>
          <a:ln>
            <a:solidFill>
              <a:srgbClr val="D297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531352" y="1472184"/>
            <a:ext cx="2907792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900" b="1">
                <a:solidFill>
                  <a:srgbClr val="D2974B"/>
                </a:solidFill>
                <a:latin typeface="Aptos"/>
              </a:defRPr>
            </a:pPr>
            <a:r>
              <a:t>TICKET MÉDIO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31352" y="1746504"/>
            <a:ext cx="2907792" cy="34747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2000" b="1">
                <a:solidFill>
                  <a:srgbClr val="0D2536"/>
                </a:solidFill>
                <a:latin typeface="Aptos"/>
              </a:defRPr>
            </a:pPr>
            <a:r>
              <a:t>R$ 9.274,49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31352" y="2148840"/>
            <a:ext cx="2907792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800" b="0">
                <a:solidFill>
                  <a:srgbClr val="1C3849"/>
                </a:solidFill>
                <a:latin typeface="Aptos"/>
              </a:defRPr>
            </a:pPr>
            <a:r>
              <a:t>Valor exibido no dashboard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94360" y="2788920"/>
            <a:ext cx="3246120" cy="1143000"/>
          </a:xfrm>
          <a:prstGeom prst="roundRect">
            <a:avLst/>
          </a:prstGeom>
          <a:solidFill>
            <a:srgbClr val="F6EFE5"/>
          </a:solidFill>
          <a:ln>
            <a:solidFill>
              <a:srgbClr val="D297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58952" y="2935224"/>
            <a:ext cx="2907792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900" b="1">
                <a:solidFill>
                  <a:srgbClr val="D2974B"/>
                </a:solidFill>
                <a:latin typeface="Aptos"/>
              </a:defRPr>
            </a:pPr>
            <a:r>
              <a:t>LUCRO TOTAL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58952" y="3209544"/>
            <a:ext cx="2907792" cy="34747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2000" b="1">
                <a:solidFill>
                  <a:srgbClr val="0D2536"/>
                </a:solidFill>
                <a:latin typeface="Aptos"/>
              </a:defRPr>
            </a:pPr>
            <a:r>
              <a:t>4,78 Mi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58952" y="3611879"/>
            <a:ext cx="2907792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800" b="0">
                <a:solidFill>
                  <a:srgbClr val="1C3849"/>
                </a:solidFill>
                <a:latin typeface="Aptos"/>
              </a:defRPr>
            </a:pPr>
            <a:r>
              <a:t>Unidade resumida no dashboard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480560" y="2788920"/>
            <a:ext cx="3246120" cy="1143000"/>
          </a:xfrm>
          <a:prstGeom prst="roundRect">
            <a:avLst/>
          </a:prstGeom>
          <a:solidFill>
            <a:srgbClr val="F6EFE5"/>
          </a:solidFill>
          <a:ln>
            <a:solidFill>
              <a:srgbClr val="D297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645152" y="2935224"/>
            <a:ext cx="2907792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900" b="1">
                <a:solidFill>
                  <a:srgbClr val="D2974B"/>
                </a:solidFill>
                <a:latin typeface="Aptos"/>
              </a:defRPr>
            </a:pPr>
            <a:r>
              <a:t>MARGEM DE LUCRO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645152" y="3209544"/>
            <a:ext cx="2907792" cy="34747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2000" b="1">
                <a:solidFill>
                  <a:srgbClr val="0D2536"/>
                </a:solidFill>
                <a:latin typeface="Aptos"/>
              </a:defRPr>
            </a:pPr>
            <a:r>
              <a:t>3,50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645152" y="3611879"/>
            <a:ext cx="2907792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800" b="0">
                <a:solidFill>
                  <a:srgbClr val="1C3849"/>
                </a:solidFill>
                <a:latin typeface="Aptos"/>
              </a:defRPr>
            </a:pPr>
            <a:r>
              <a:t>Confirmar formatação como %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366760" y="2788920"/>
            <a:ext cx="3246120" cy="1143000"/>
          </a:xfrm>
          <a:prstGeom prst="roundRect">
            <a:avLst/>
          </a:prstGeom>
          <a:solidFill>
            <a:srgbClr val="F6EFE5"/>
          </a:solidFill>
          <a:ln>
            <a:solidFill>
              <a:srgbClr val="D297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531352" y="2935224"/>
            <a:ext cx="2907792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900" b="1">
                <a:solidFill>
                  <a:srgbClr val="D2974B"/>
                </a:solidFill>
                <a:latin typeface="Aptos"/>
              </a:defRPr>
            </a:pPr>
            <a:r>
              <a:t>DESCONTOS CONCEDIDOS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531352" y="3209544"/>
            <a:ext cx="2907792" cy="34747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2000" b="1">
                <a:solidFill>
                  <a:srgbClr val="0D2536"/>
                </a:solidFill>
                <a:latin typeface="Aptos"/>
              </a:defRPr>
            </a:pPr>
            <a:r>
              <a:t>R$ 7.692,69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531352" y="3611879"/>
            <a:ext cx="2907792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800" b="0">
                <a:solidFill>
                  <a:srgbClr val="1C3849"/>
                </a:solidFill>
                <a:latin typeface="Aptos"/>
              </a:defRPr>
            </a:pPr>
            <a:r>
              <a:t>Valor exibido no dashboard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94360" y="4343400"/>
            <a:ext cx="11018520" cy="1508760"/>
          </a:xfrm>
          <a:prstGeom prst="roundRect">
            <a:avLst/>
          </a:prstGeom>
          <a:solidFill>
            <a:srgbClr val="1C3849"/>
          </a:solidFill>
          <a:ln>
            <a:solidFill>
              <a:srgbClr val="D297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164592" tIns="146304" bIns="109728"/>
          <a:lstStyle/>
          <a:p>
            <a:pPr algn="ctr">
              <a:defRPr sz="1200" b="1">
                <a:solidFill>
                  <a:srgbClr val="D2974B"/>
                </a:solidFill>
                <a:latin typeface="Aptos"/>
              </a:defRPr>
            </a:pPr>
            <a:r>
              <a:t>LEITURA INICIAL</a:t>
            </a:r>
          </a:p>
          <a:p>
            <a:pPr>
              <a:spcBef>
                <a:spcPts val="900"/>
              </a:spcBef>
              <a:defRPr sz="1300">
                <a:solidFill>
                  <a:srgbClr val="F6EFE5"/>
                </a:solidFill>
                <a:latin typeface="Aptos"/>
              </a:defRPr>
            </a:pPr>
            <a:r>
              <a:t>O painel reúne indicadores de volume, receita e rentabilidade em uma única visão.</a:t>
            </a:r>
          </a:p>
          <a:p>
            <a:pPr>
              <a:spcBef>
                <a:spcPts val="900"/>
              </a:spcBef>
              <a:defRPr sz="1300">
                <a:solidFill>
                  <a:srgbClr val="F6EFE5"/>
                </a:solidFill>
                <a:latin typeface="Aptos"/>
              </a:defRPr>
            </a:pPr>
            <a:r>
              <a:t>Antes de divulgar os números, valide a medida de margem e confira se os descontos estão sendo agregados corretamente por mês.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253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D297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8961120" cy="4389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2500" b="1">
                <a:solidFill>
                  <a:srgbClr val="F6EFE5"/>
                </a:solidFill>
                <a:latin typeface="Aptos Display"/>
              </a:defRPr>
            </a:pPr>
            <a:r>
              <a:t>Desempenho comercial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749808"/>
            <a:ext cx="960120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900" b="1">
                <a:solidFill>
                  <a:srgbClr val="D2974B"/>
                </a:solidFill>
                <a:latin typeface="Aptos"/>
              </a:defRPr>
            </a:pPr>
            <a:r>
              <a:t>FATURAMENTO MENSAL, LOJAS, CATEGORIAS E PRODUTOS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6510528"/>
            <a:ext cx="59436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defRPr sz="800" b="1">
                <a:solidFill>
                  <a:srgbClr val="CAD6DB"/>
                </a:solidFill>
                <a:latin typeface="Aptos"/>
              </a:defRPr>
            </a:pPr>
            <a:r>
              <a:t>03/06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280160"/>
            <a:ext cx="5349240" cy="1920240"/>
          </a:xfrm>
          <a:prstGeom prst="roundRect">
            <a:avLst/>
          </a:prstGeom>
          <a:solidFill>
            <a:srgbClr val="1C3849"/>
          </a:solidFill>
          <a:ln>
            <a:solidFill>
              <a:srgbClr val="D297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164592" tIns="146304" bIns="109728"/>
          <a:lstStyle/>
          <a:p>
            <a:pPr algn="ctr">
              <a:defRPr sz="1200" b="1">
                <a:solidFill>
                  <a:srgbClr val="D2974B"/>
                </a:solidFill>
                <a:latin typeface="Aptos"/>
              </a:defRPr>
            </a:pPr>
            <a:r>
              <a:t>EVOLUÇÃO MENSAL</a:t>
            </a:r>
          </a:p>
          <a:p>
            <a:pPr>
              <a:spcBef>
                <a:spcPts val="900"/>
              </a:spcBef>
              <a:defRPr sz="1300">
                <a:solidFill>
                  <a:srgbClr val="F6EFE5"/>
                </a:solidFill>
                <a:latin typeface="Aptos"/>
              </a:defRPr>
            </a:pPr>
            <a:r>
              <a:t>O gráfico mostra oscilações ao longo do ano, com pico visual em maio e queda em julho.</a:t>
            </a:r>
          </a:p>
          <a:p>
            <a:pPr>
              <a:spcBef>
                <a:spcPts val="900"/>
              </a:spcBef>
              <a:defRPr sz="1300">
                <a:solidFill>
                  <a:srgbClr val="F6EFE5"/>
                </a:solidFill>
                <a:latin typeface="Aptos"/>
              </a:defRPr>
            </a:pPr>
            <a:r>
              <a:t>A série mensal deve ser validada com os valores da consulta SQL antes de registrar percentuais de crescimento.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72200" y="1280160"/>
            <a:ext cx="5440680" cy="1920240"/>
          </a:xfrm>
          <a:prstGeom prst="roundRect">
            <a:avLst/>
          </a:prstGeom>
          <a:solidFill>
            <a:srgbClr val="1C3849"/>
          </a:solidFill>
          <a:ln>
            <a:solidFill>
              <a:srgbClr val="D297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164592" tIns="146304" bIns="109728"/>
          <a:lstStyle/>
          <a:p>
            <a:pPr algn="ctr">
              <a:defRPr sz="1200" b="1">
                <a:solidFill>
                  <a:srgbClr val="D2974B"/>
                </a:solidFill>
                <a:latin typeface="Aptos"/>
              </a:defRPr>
            </a:pPr>
            <a:r>
              <a:t>DESEMPENHO DAS LOJAS</a:t>
            </a:r>
          </a:p>
          <a:p>
            <a:pPr>
              <a:spcBef>
                <a:spcPts val="900"/>
              </a:spcBef>
              <a:defRPr sz="1300">
                <a:solidFill>
                  <a:srgbClr val="F6EFE5"/>
                </a:solidFill>
                <a:latin typeface="Aptos"/>
              </a:defRPr>
            </a:pPr>
            <a:r>
              <a:t>No gráfico apresentado, L07 aparece com maior faturamento; L01 aparece com menor faturamento.</a:t>
            </a:r>
          </a:p>
          <a:p>
            <a:pPr>
              <a:spcBef>
                <a:spcPts val="900"/>
              </a:spcBef>
              <a:defRPr sz="1300">
                <a:solidFill>
                  <a:srgbClr val="F6EFE5"/>
                </a:solidFill>
                <a:latin typeface="Aptos"/>
              </a:defRPr>
            </a:pPr>
            <a:r>
              <a:t>A comparação considera o faturamento exibido para cada loja.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3520440"/>
            <a:ext cx="5349240" cy="1920240"/>
          </a:xfrm>
          <a:prstGeom prst="roundRect">
            <a:avLst/>
          </a:prstGeom>
          <a:solidFill>
            <a:srgbClr val="1C3849"/>
          </a:solidFill>
          <a:ln>
            <a:solidFill>
              <a:srgbClr val="D297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164592" tIns="146304" bIns="109728"/>
          <a:lstStyle/>
          <a:p>
            <a:pPr algn="ctr">
              <a:defRPr sz="1200" b="1">
                <a:solidFill>
                  <a:srgbClr val="D2974B"/>
                </a:solidFill>
                <a:latin typeface="Aptos"/>
              </a:defRPr>
            </a:pPr>
            <a:r>
              <a:t>CATEGORIAS</a:t>
            </a:r>
          </a:p>
          <a:p>
            <a:pPr>
              <a:spcBef>
                <a:spcPts val="900"/>
              </a:spcBef>
              <a:defRPr sz="1300">
                <a:solidFill>
                  <a:srgbClr val="F6EFE5"/>
                </a:solidFill>
                <a:latin typeface="Aptos"/>
              </a:defRPr>
            </a:pPr>
            <a:r>
              <a:t>Papelaria aparece como a categoria de maior receita no gráfico.</a:t>
            </a:r>
          </a:p>
          <a:p>
            <a:pPr>
              <a:spcBef>
                <a:spcPts val="900"/>
              </a:spcBef>
              <a:defRPr sz="1300">
                <a:solidFill>
                  <a:srgbClr val="F6EFE5"/>
                </a:solidFill>
                <a:latin typeface="Aptos"/>
              </a:defRPr>
            </a:pPr>
            <a:r>
              <a:t>Telefonia, Móveis e Eletroportáteis vêm em seguida; Informática aparece abaixo das demais.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72200" y="3520440"/>
            <a:ext cx="5440680" cy="1920240"/>
          </a:xfrm>
          <a:prstGeom prst="roundRect">
            <a:avLst/>
          </a:prstGeom>
          <a:solidFill>
            <a:srgbClr val="1C3849"/>
          </a:solidFill>
          <a:ln>
            <a:solidFill>
              <a:srgbClr val="D297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164592" tIns="146304" bIns="109728"/>
          <a:lstStyle/>
          <a:p>
            <a:pPr algn="ctr">
              <a:defRPr sz="1200" b="1">
                <a:solidFill>
                  <a:srgbClr val="D2974B"/>
                </a:solidFill>
                <a:latin typeface="Aptos"/>
              </a:defRPr>
            </a:pPr>
            <a:r>
              <a:t>PRODUTOS</a:t>
            </a:r>
          </a:p>
          <a:p>
            <a:pPr>
              <a:spcBef>
                <a:spcPts val="900"/>
              </a:spcBef>
              <a:defRPr sz="1300">
                <a:solidFill>
                  <a:srgbClr val="F6EFE5"/>
                </a:solidFill>
                <a:latin typeface="Aptos"/>
              </a:defRPr>
            </a:pPr>
            <a:r>
              <a:t>O painel de produtos destaca itens com maior lucro, mas a margem deve ser analisada separadamente.</a:t>
            </a:r>
          </a:p>
          <a:p>
            <a:pPr>
              <a:spcBef>
                <a:spcPts val="900"/>
              </a:spcBef>
              <a:defRPr sz="1300">
                <a:solidFill>
                  <a:srgbClr val="F6EFE5"/>
                </a:solidFill>
                <a:latin typeface="Aptos"/>
              </a:defRPr>
            </a:pPr>
            <a:r>
              <a:t>Receita, lucro e margem são métricas diferentes e não devem ser interpretadas como equivalentes.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5897880"/>
            <a:ext cx="10881360" cy="32918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900" b="0">
                <a:solidFill>
                  <a:srgbClr val="CAD6DB"/>
                </a:solidFill>
                <a:latin typeface="Aptos"/>
              </a:defRPr>
            </a:pPr>
            <a:r>
              <a:t>Fonte: resultados visíveis no dashboard Power BI enviado pela usuária. Valores detalhados por série não foram fornecidos.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253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D297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8961120" cy="4389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2500" b="1">
                <a:solidFill>
                  <a:srgbClr val="F6EFE5"/>
                </a:solidFill>
                <a:latin typeface="Aptos Display"/>
              </a:defRPr>
            </a:pPr>
            <a:r>
              <a:t>Rentabilidade e descontos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749808"/>
            <a:ext cx="960120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900" b="1">
                <a:solidFill>
                  <a:srgbClr val="D2974B"/>
                </a:solidFill>
                <a:latin typeface="Aptos"/>
              </a:defRPr>
            </a:pPr>
            <a:r>
              <a:t>LUCRO, MARGEM E EFEITO DOS DESCONTOS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6510528"/>
            <a:ext cx="59436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defRPr sz="800" b="1">
                <a:solidFill>
                  <a:srgbClr val="CAD6DB"/>
                </a:solidFill>
                <a:latin typeface="Aptos"/>
              </a:defRPr>
            </a:pPr>
            <a:r>
              <a:t>04/06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325880"/>
            <a:ext cx="5349240" cy="2057400"/>
          </a:xfrm>
          <a:prstGeom prst="roundRect">
            <a:avLst/>
          </a:prstGeom>
          <a:solidFill>
            <a:srgbClr val="1C3849"/>
          </a:solidFill>
          <a:ln>
            <a:solidFill>
              <a:srgbClr val="D297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164592" tIns="146304" bIns="109728"/>
          <a:lstStyle/>
          <a:p>
            <a:pPr algn="ctr">
              <a:defRPr sz="1200" b="1">
                <a:solidFill>
                  <a:srgbClr val="D2974B"/>
                </a:solidFill>
                <a:latin typeface="Aptos"/>
              </a:defRPr>
            </a:pPr>
            <a:r>
              <a:t>LUCRO E MARGEM</a:t>
            </a:r>
          </a:p>
          <a:p>
            <a:pPr>
              <a:spcBef>
                <a:spcPts val="900"/>
              </a:spcBef>
              <a:defRPr sz="1300">
                <a:solidFill>
                  <a:srgbClr val="F6EFE5"/>
                </a:solidFill>
                <a:latin typeface="Aptos"/>
              </a:defRPr>
            </a:pPr>
            <a:r>
              <a:t>O dashboard lista produtos por lucro e apresenta um gráfico de margem por produto.</a:t>
            </a:r>
          </a:p>
          <a:p>
            <a:pPr>
              <a:spcBef>
                <a:spcPts val="900"/>
              </a:spcBef>
              <a:defRPr sz="1300">
                <a:solidFill>
                  <a:srgbClr val="F6EFE5"/>
                </a:solidFill>
                <a:latin typeface="Aptos"/>
              </a:defRPr>
            </a:pPr>
            <a:r>
              <a:t>A margem deve ser calculada como lucro ÷ faturamento × 100.</a:t>
            </a:r>
          </a:p>
          <a:p>
            <a:pPr>
              <a:spcBef>
                <a:spcPts val="900"/>
              </a:spcBef>
              <a:defRPr sz="1300">
                <a:solidFill>
                  <a:srgbClr val="F6EFE5"/>
                </a:solidFill>
                <a:latin typeface="Aptos"/>
              </a:defRPr>
            </a:pPr>
            <a:r>
              <a:t>A medida precisa respeitar o contexto de cada produto.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72200" y="1325880"/>
            <a:ext cx="5440680" cy="2057400"/>
          </a:xfrm>
          <a:prstGeom prst="roundRect">
            <a:avLst/>
          </a:prstGeom>
          <a:solidFill>
            <a:srgbClr val="1C3849"/>
          </a:solidFill>
          <a:ln>
            <a:solidFill>
              <a:srgbClr val="D297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164592" tIns="146304" bIns="109728"/>
          <a:lstStyle/>
          <a:p>
            <a:pPr algn="ctr">
              <a:defRPr sz="1200" b="1">
                <a:solidFill>
                  <a:srgbClr val="D2974B"/>
                </a:solidFill>
                <a:latin typeface="Aptos"/>
              </a:defRPr>
            </a:pPr>
            <a:r>
              <a:t>DESCONTOS</a:t>
            </a:r>
          </a:p>
          <a:p>
            <a:pPr>
              <a:spcBef>
                <a:spcPts val="900"/>
              </a:spcBef>
              <a:defRPr sz="1300">
                <a:solidFill>
                  <a:srgbClr val="F6EFE5"/>
                </a:solidFill>
                <a:latin typeface="Aptos"/>
              </a:defRPr>
            </a:pPr>
            <a:r>
              <a:t>O gráfico mensal mostra variação dos descontos ao longo do ano.</a:t>
            </a:r>
          </a:p>
          <a:p>
            <a:pPr>
              <a:spcBef>
                <a:spcPts val="900"/>
              </a:spcBef>
              <a:defRPr sz="1300">
                <a:solidFill>
                  <a:srgbClr val="F6EFE5"/>
                </a:solidFill>
                <a:latin typeface="Aptos"/>
              </a:defRPr>
            </a:pPr>
            <a:r>
              <a:t>Para medir o impacto real, compare faturamento bruto com faturamento após descontos.</a:t>
            </a:r>
          </a:p>
          <a:p>
            <a:pPr>
              <a:spcBef>
                <a:spcPts val="900"/>
              </a:spcBef>
              <a:defRPr sz="1300">
                <a:solidFill>
                  <a:srgbClr val="F6EFE5"/>
                </a:solidFill>
                <a:latin typeface="Aptos"/>
              </a:defRPr>
            </a:pPr>
            <a:r>
              <a:t>O desconto do pedido deve ser calculado uma vez por pedido, não repetido por item.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3794760"/>
            <a:ext cx="11018520" cy="1508760"/>
          </a:xfrm>
          <a:prstGeom prst="roundRect">
            <a:avLst/>
          </a:prstGeom>
          <a:solidFill>
            <a:srgbClr val="F6EFE5"/>
          </a:solidFill>
          <a:ln>
            <a:solidFill>
              <a:srgbClr val="D297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4005072"/>
            <a:ext cx="1051560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100" b="1">
                <a:solidFill>
                  <a:srgbClr val="D2974B"/>
                </a:solidFill>
                <a:latin typeface="Aptos"/>
              </a:defRPr>
            </a:pPr>
            <a:r>
              <a:t>PONTO DE VALIDAÇÃO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4370832"/>
            <a:ext cx="10515600" cy="6400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400" b="1">
                <a:solidFill>
                  <a:srgbClr val="0D2536"/>
                </a:solidFill>
                <a:latin typeface="Aptos"/>
              </a:defRPr>
            </a:pPr>
            <a:r>
              <a:t>O documento SQL contém a lógica de desconto por pedido e por item, mas não apresenta uma tabela completa de resultados numéricos que permita quantificar a redução de receita ou lucro.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5897880"/>
            <a:ext cx="10881360" cy="32918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900" b="0">
                <a:solidFill>
                  <a:srgbClr val="CAD6DB"/>
                </a:solidFill>
                <a:latin typeface="Aptos"/>
              </a:defRPr>
            </a:pPr>
            <a:r>
              <a:t>Não foi estimado um valor de impacto sem evidência numérica suficiente.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253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D297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8961120" cy="4389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2500" b="1">
                <a:solidFill>
                  <a:srgbClr val="F6EFE5"/>
                </a:solidFill>
                <a:latin typeface="Aptos Display"/>
              </a:defRPr>
            </a:pPr>
            <a:r>
              <a:t>Clientes, metas e pagamentos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749808"/>
            <a:ext cx="960120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900" b="1">
                <a:solidFill>
                  <a:srgbClr val="D2974B"/>
                </a:solidFill>
                <a:latin typeface="Aptos"/>
              </a:defRPr>
            </a:pPr>
            <a:r>
              <a:t>PERFIL DE RECEITA E ACOMPANHAMENTO COMERCIAL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6510528"/>
            <a:ext cx="59436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defRPr sz="800" b="1">
                <a:solidFill>
                  <a:srgbClr val="CAD6DB"/>
                </a:solidFill>
                <a:latin typeface="Aptos"/>
              </a:defRPr>
            </a:pPr>
            <a:r>
              <a:t>05/06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325880"/>
            <a:ext cx="3520440" cy="3337560"/>
          </a:xfrm>
          <a:prstGeom prst="roundRect">
            <a:avLst/>
          </a:prstGeom>
          <a:solidFill>
            <a:srgbClr val="1C3849"/>
          </a:solidFill>
          <a:ln>
            <a:solidFill>
              <a:srgbClr val="D297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164592" tIns="146304" bIns="109728"/>
          <a:lstStyle/>
          <a:p>
            <a:pPr algn="ctr">
              <a:defRPr sz="1200" b="1">
                <a:solidFill>
                  <a:srgbClr val="D2974B"/>
                </a:solidFill>
                <a:latin typeface="Aptos"/>
              </a:defRPr>
            </a:pPr>
            <a:r>
              <a:t>CLIENTES</a:t>
            </a:r>
          </a:p>
          <a:p>
            <a:pPr>
              <a:spcBef>
                <a:spcPts val="900"/>
              </a:spcBef>
              <a:defRPr sz="1300">
                <a:solidFill>
                  <a:srgbClr val="F6EFE5"/>
                </a:solidFill>
                <a:latin typeface="Aptos"/>
              </a:defRPr>
            </a:pPr>
            <a:r>
              <a:t>O gráfico Top 10 apresenta os clientes com maior receita.</a:t>
            </a:r>
          </a:p>
          <a:p>
            <a:pPr>
              <a:spcBef>
                <a:spcPts val="900"/>
              </a:spcBef>
              <a:defRPr sz="1300">
                <a:solidFill>
                  <a:srgbClr val="F6EFE5"/>
                </a:solidFill>
                <a:latin typeface="Aptos"/>
              </a:defRPr>
            </a:pPr>
            <a:r>
              <a:t>A tabela Clientes não possui coluna de segmento; por isso, não é possível comparar segmentos com a base atual.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43400" y="1325880"/>
            <a:ext cx="3520440" cy="3337560"/>
          </a:xfrm>
          <a:prstGeom prst="roundRect">
            <a:avLst/>
          </a:prstGeom>
          <a:solidFill>
            <a:srgbClr val="1C3849"/>
          </a:solidFill>
          <a:ln>
            <a:solidFill>
              <a:srgbClr val="D297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164592" tIns="146304" bIns="109728"/>
          <a:lstStyle/>
          <a:p>
            <a:pPr algn="ctr">
              <a:defRPr sz="1200" b="1">
                <a:solidFill>
                  <a:srgbClr val="D2974B"/>
                </a:solidFill>
                <a:latin typeface="Aptos"/>
              </a:defRPr>
            </a:pPr>
            <a:r>
              <a:t>METAS MENSAIS</a:t>
            </a:r>
          </a:p>
          <a:p>
            <a:pPr>
              <a:spcBef>
                <a:spcPts val="900"/>
              </a:spcBef>
              <a:defRPr sz="1300">
                <a:solidFill>
                  <a:srgbClr val="F6EFE5"/>
                </a:solidFill>
                <a:latin typeface="Aptos"/>
              </a:defRPr>
            </a:pPr>
            <a:r>
              <a:t>A comparação correta é entre faturamento realizado e MetaFaturamento por loja e mês.</a:t>
            </a:r>
          </a:p>
          <a:p>
            <a:pPr>
              <a:spcBef>
                <a:spcPts val="900"/>
              </a:spcBef>
              <a:defRPr sz="1300">
                <a:solidFill>
                  <a:srgbClr val="F6EFE5"/>
                </a:solidFill>
                <a:latin typeface="Aptos"/>
              </a:defRPr>
            </a:pPr>
            <a:r>
              <a:t>A junção deve considerar LojaID, ano e mês para evitar comparar períodos diferentes.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92440" y="1325880"/>
            <a:ext cx="3520440" cy="3337560"/>
          </a:xfrm>
          <a:prstGeom prst="roundRect">
            <a:avLst/>
          </a:prstGeom>
          <a:solidFill>
            <a:srgbClr val="1C3849"/>
          </a:solidFill>
          <a:ln>
            <a:solidFill>
              <a:srgbClr val="D297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164592" tIns="146304" bIns="109728"/>
          <a:lstStyle/>
          <a:p>
            <a:pPr algn="ctr">
              <a:defRPr sz="1200" b="1">
                <a:solidFill>
                  <a:srgbClr val="D2974B"/>
                </a:solidFill>
                <a:latin typeface="Aptos"/>
              </a:defRPr>
            </a:pPr>
            <a:r>
              <a:t>FORMAS DE PAGAMENTO</a:t>
            </a:r>
          </a:p>
          <a:p>
            <a:pPr>
              <a:spcBef>
                <a:spcPts val="900"/>
              </a:spcBef>
              <a:defRPr sz="1300">
                <a:solidFill>
                  <a:srgbClr val="F6EFE5"/>
                </a:solidFill>
                <a:latin typeface="Aptos"/>
              </a:defRPr>
            </a:pPr>
            <a:r>
              <a:t>A consulta existente conta pedidos por forma de pagamento.</a:t>
            </a:r>
          </a:p>
          <a:p>
            <a:pPr>
              <a:spcBef>
                <a:spcPts val="900"/>
              </a:spcBef>
              <a:defRPr sz="1300">
                <a:solidFill>
                  <a:srgbClr val="F6EFE5"/>
                </a:solidFill>
                <a:latin typeface="Aptos"/>
              </a:defRPr>
            </a:pPr>
            <a:r>
              <a:t>Se a análise for de vendas concluídas, filtre StatusPedido = 'entregue'; caso contrário, deixe claro que são todos os pedidos.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" y="5074920"/>
            <a:ext cx="11018520" cy="731520"/>
          </a:xfrm>
          <a:prstGeom prst="roundRect">
            <a:avLst/>
          </a:prstGeom>
          <a:solidFill>
            <a:srgbClr val="F6EFE5"/>
          </a:solidFill>
          <a:ln>
            <a:solidFill>
              <a:srgbClr val="D297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5285232"/>
            <a:ext cx="10515600" cy="31089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300" b="1">
                <a:solidFill>
                  <a:srgbClr val="0D2536"/>
                </a:solidFill>
                <a:latin typeface="Aptos"/>
              </a:defRPr>
            </a:pPr>
            <a:r>
              <a:t>OPORTUNIDADE DE DADOS: adicionar Segmento à tabela Clientes se essa análise for necessária.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253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D297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8961120" cy="4389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2500" b="1">
                <a:solidFill>
                  <a:srgbClr val="F6EFE5"/>
                </a:solidFill>
                <a:latin typeface="Aptos Display"/>
              </a:defRPr>
            </a:pPr>
            <a:r>
              <a:t>Conclusões e oportunidades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749808"/>
            <a:ext cx="960120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900" b="1">
                <a:solidFill>
                  <a:srgbClr val="D2974B"/>
                </a:solidFill>
                <a:latin typeface="Aptos"/>
              </a:defRPr>
            </a:pPr>
            <a:r>
              <a:t>RECOMENDAÇÕES DERIVADAS DAS ANÁLISES DISPONÍVEIS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6510528"/>
            <a:ext cx="59436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defRPr sz="800" b="1">
                <a:solidFill>
                  <a:srgbClr val="CAD6DB"/>
                </a:solidFill>
                <a:latin typeface="Aptos"/>
              </a:defRPr>
            </a:pPr>
            <a:r>
              <a:t>06/06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280160"/>
            <a:ext cx="5349240" cy="4343400"/>
          </a:xfrm>
          <a:prstGeom prst="roundRect">
            <a:avLst/>
          </a:prstGeom>
          <a:solidFill>
            <a:srgbClr val="1C3849"/>
          </a:solidFill>
          <a:ln>
            <a:solidFill>
              <a:srgbClr val="D297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164592" tIns="146304" bIns="109728"/>
          <a:lstStyle/>
          <a:p>
            <a:pPr algn="ctr">
              <a:defRPr sz="1200" b="1">
                <a:solidFill>
                  <a:srgbClr val="D2974B"/>
                </a:solidFill>
                <a:latin typeface="Aptos"/>
              </a:defRPr>
            </a:pPr>
            <a:r>
              <a:t>AÇÕES RECOMENDADAS</a:t>
            </a:r>
          </a:p>
          <a:p>
            <a:pPr>
              <a:spcBef>
                <a:spcPts val="900"/>
              </a:spcBef>
              <a:defRPr sz="1400">
                <a:solidFill>
                  <a:srgbClr val="F6EFE5"/>
                </a:solidFill>
                <a:latin typeface="Aptos"/>
              </a:defRPr>
            </a:pPr>
            <a:r>
              <a:t>Investigar os meses de pico e queda para entender sazonalidade e possíveis causas.</a:t>
            </a:r>
          </a:p>
          <a:p>
            <a:pPr>
              <a:spcBef>
                <a:spcPts val="900"/>
              </a:spcBef>
              <a:defRPr sz="1400">
                <a:solidFill>
                  <a:srgbClr val="F6EFE5"/>
                </a:solidFill>
                <a:latin typeface="Aptos"/>
              </a:defRPr>
            </a:pPr>
            <a:r>
              <a:t>Usar o desempenho das lojas para compartilhar práticas das unidades líderes e apoiar as de menor receita.</a:t>
            </a:r>
          </a:p>
          <a:p>
            <a:pPr>
              <a:spcBef>
                <a:spcPts val="900"/>
              </a:spcBef>
              <a:defRPr sz="1400">
                <a:solidFill>
                  <a:srgbClr val="F6EFE5"/>
                </a:solidFill>
                <a:latin typeface="Aptos"/>
              </a:defRPr>
            </a:pPr>
            <a:r>
              <a:t>Priorizar categorias e produtos com maior contribuição para a receita.</a:t>
            </a:r>
          </a:p>
          <a:p>
            <a:pPr>
              <a:spcBef>
                <a:spcPts val="900"/>
              </a:spcBef>
              <a:defRPr sz="1400">
                <a:solidFill>
                  <a:srgbClr val="F6EFE5"/>
                </a:solidFill>
                <a:latin typeface="Aptos"/>
              </a:defRPr>
            </a:pPr>
            <a:r>
              <a:t>Validar margem e descontos antes de tomar decisões de preço ou promoção.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72200" y="1280160"/>
            <a:ext cx="5440680" cy="4343400"/>
          </a:xfrm>
          <a:prstGeom prst="roundRect">
            <a:avLst/>
          </a:prstGeom>
          <a:solidFill>
            <a:srgbClr val="1C3849"/>
          </a:solidFill>
          <a:ln>
            <a:solidFill>
              <a:srgbClr val="D297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164592" tIns="146304" bIns="109728"/>
          <a:lstStyle/>
          <a:p>
            <a:pPr algn="ctr">
              <a:defRPr sz="1200" b="1">
                <a:solidFill>
                  <a:srgbClr val="D2974B"/>
                </a:solidFill>
                <a:latin typeface="Aptos"/>
              </a:defRPr>
            </a:pPr>
            <a:r>
              <a:t>PRÓXIMOS PASSOS</a:t>
            </a:r>
          </a:p>
          <a:p>
            <a:pPr>
              <a:spcBef>
                <a:spcPts val="900"/>
              </a:spcBef>
              <a:defRPr sz="1400">
                <a:solidFill>
                  <a:srgbClr val="F6EFE5"/>
                </a:solidFill>
                <a:latin typeface="Aptos"/>
              </a:defRPr>
            </a:pPr>
            <a:r>
              <a:t>Revisar o cálculo da medida Margem de Lucro (%) e sua formatação no Power BI.</a:t>
            </a:r>
          </a:p>
          <a:p>
            <a:pPr>
              <a:spcBef>
                <a:spcPts val="900"/>
              </a:spcBef>
              <a:defRPr sz="1400">
                <a:solidFill>
                  <a:srgbClr val="F6EFE5"/>
                </a:solidFill>
                <a:latin typeface="Aptos"/>
              </a:defRPr>
            </a:pPr>
            <a:r>
              <a:t>Conferir se Descontos Concedidos varia por mês e não repete o total em cada período.</a:t>
            </a:r>
          </a:p>
          <a:p>
            <a:pPr>
              <a:spcBef>
                <a:spcPts val="900"/>
              </a:spcBef>
              <a:defRPr sz="1400">
                <a:solidFill>
                  <a:srgbClr val="F6EFE5"/>
                </a:solidFill>
                <a:latin typeface="Aptos"/>
              </a:defRPr>
            </a:pPr>
            <a:r>
              <a:t>Validar o relacionamento entre calendário, Pedidos e MetasMensais.</a:t>
            </a:r>
          </a:p>
          <a:p>
            <a:pPr>
              <a:spcBef>
                <a:spcPts val="900"/>
              </a:spcBef>
              <a:defRPr sz="1400">
                <a:solidFill>
                  <a:srgbClr val="F6EFE5"/>
                </a:solidFill>
                <a:latin typeface="Aptos"/>
              </a:defRPr>
            </a:pPr>
            <a:r>
              <a:t>Exportar resultados detalhados do SQL para registrar os valores exatos e quantificar as oportunidades.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5925312"/>
            <a:ext cx="10881360" cy="29260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900" b="0">
                <a:solidFill>
                  <a:srgbClr val="CAD6DB"/>
                </a:solidFill>
                <a:latin typeface="Aptos"/>
              </a:defRPr>
            </a:pPr>
            <a:r>
              <a:t>Conclusões qualitativas baseadas no dashboard e nas consultas SQL fornecidas; não foram inventados resultados ausentes.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