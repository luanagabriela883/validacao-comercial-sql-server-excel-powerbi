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5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D29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132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6EFE5"/>
                </a:solidFill>
                <a:latin typeface="Aptos Display"/>
              </a:defRPr>
            </a:pPr>
            <a:r>
              <a:t>ANÁLISE COMERCIAL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50392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2974B"/>
                </a:solidFill>
                <a:latin typeface="Aptos"/>
              </a:defRPr>
            </a:pPr>
            <a:r>
              <a:t>PROJETO DE PORTFÓLIO  |  SQL • POWER BI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64040" y="347472"/>
            <a:ext cx="2194560" cy="548640"/>
          </a:xfrm>
          <a:prstGeom prst="roundRect">
            <a:avLst/>
          </a:prstGeom>
          <a:solidFill>
            <a:srgbClr val="1C3849"/>
          </a:solidFill>
          <a:ln>
            <a:solidFill>
              <a:srgbClr val="D29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6EFE5"/>
                </a:solidFill>
                <a:latin typeface="Aptos"/>
              </a:defRPr>
            </a:pPr>
            <a:r>
              <a:t>VENDAS • RENTABILIDADE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749039" cy="960120"/>
          </a:xfrm>
          <a:prstGeom prst="roundRect">
            <a:avLst/>
          </a:prstGeom>
          <a:solidFill>
            <a:srgbClr val="F6EFE5"/>
          </a:solidFill>
          <a:ln>
            <a:solidFill>
              <a:srgbClr val="D29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000" b="1">
                <a:solidFill>
                  <a:srgbClr val="D2974B"/>
                </a:solidFill>
                <a:latin typeface="Aptos"/>
              </a:defRPr>
            </a:pPr>
            <a:r>
              <a:t>OBJETIVO</a:t>
            </a:r>
          </a:p>
          <a:p>
            <a:pPr>
              <a:defRPr sz="1400" b="1">
                <a:solidFill>
                  <a:srgbClr val="0D2536"/>
                </a:solidFill>
                <a:latin typeface="Aptos"/>
              </a:defRPr>
            </a:pPr>
            <a:r>
              <a:t>Transformar dados de vendas em indicadores para apoiar decisões comerciais.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325880"/>
            <a:ext cx="2971800" cy="960120"/>
          </a:xfrm>
          <a:prstGeom prst="roundRect">
            <a:avLst/>
          </a:prstGeom>
          <a:solidFill>
            <a:srgbClr val="1C3849"/>
          </a:solidFill>
          <a:ln>
            <a:solidFill>
              <a:srgbClr val="D29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09728"/>
          <a:lstStyle/>
          <a:p>
            <a:pPr algn="ctr">
              <a:defRPr sz="1000" b="1">
                <a:solidFill>
                  <a:srgbClr val="D2974B"/>
                </a:solidFill>
                <a:latin typeface="Aptos"/>
              </a:defRPr>
            </a:pPr>
            <a:r>
              <a:t>FERRAMENTAS</a:t>
            </a:r>
          </a:p>
          <a:p>
            <a:pPr>
              <a:defRPr sz="1600" b="1">
                <a:solidFill>
                  <a:srgbClr val="F6EFE5"/>
                </a:solidFill>
                <a:latin typeface="Aptos"/>
              </a:defRPr>
            </a:pPr>
            <a:r>
              <a:t>SQL Server  |  Power BI</a:t>
            </a:r>
          </a:p>
          <a:p>
            <a:pPr>
              <a:defRPr sz="1000">
                <a:solidFill>
                  <a:srgbClr val="CDD8DC"/>
                </a:solidFill>
                <a:latin typeface="Aptos"/>
              </a:defRPr>
            </a:pPr>
            <a:r>
              <a:t>Consultas, medidas e visualização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325880"/>
            <a:ext cx="4069080" cy="960120"/>
          </a:xfrm>
          <a:prstGeom prst="roundRect">
            <a:avLst/>
          </a:prstGeom>
          <a:solidFill>
            <a:srgbClr val="F6EFE5"/>
          </a:solidFill>
          <a:ln>
            <a:solidFill>
              <a:srgbClr val="D29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09728"/>
          <a:lstStyle/>
          <a:p>
            <a:pPr algn="ctr">
              <a:defRPr sz="1000" b="1">
                <a:solidFill>
                  <a:srgbClr val="D2974B"/>
                </a:solidFill>
                <a:latin typeface="Aptos"/>
              </a:defRPr>
            </a:pPr>
            <a:r>
              <a:t>INDICADORES DO DASHBOARD</a:t>
            </a:r>
          </a:p>
          <a:p>
            <a:pPr>
              <a:defRPr sz="1100" b="1">
                <a:solidFill>
                  <a:srgbClr val="0D2536"/>
                </a:solidFill>
                <a:latin typeface="Aptos"/>
              </a:defRPr>
            </a:pPr>
            <a:r>
              <a:t>Faturamento • Pedidos • Ticket médio • Lucro • Margem • Descontos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60320"/>
            <a:ext cx="6629400" cy="3611880"/>
          </a:xfrm>
          <a:prstGeom prst="roundRect">
            <a:avLst/>
          </a:prstGeom>
          <a:solidFill>
            <a:srgbClr val="F6EFE5"/>
          </a:solidFill>
          <a:ln>
            <a:solidFill>
              <a:srgbClr val="D29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(20261023-010601).png"/>
          <p:cNvPicPr>
            <a:picLocks noChangeAspect="1"/>
          </p:cNvPicPr>
          <p:nvPr/>
        </p:nvPicPr>
        <p:blipFill>
          <a:blip r:embed="rId2"/>
          <a:srcRect t="2981" b="2981"/>
          <a:stretch>
            <a:fillRect/>
          </a:stretch>
        </p:blipFill>
        <p:spPr>
          <a:xfrm>
            <a:off x="640080" y="2697480"/>
            <a:ext cx="6355080" cy="331012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0" y="2560320"/>
            <a:ext cx="4343400" cy="3611880"/>
          </a:xfrm>
          <a:prstGeom prst="roundRect">
            <a:avLst/>
          </a:prstGeom>
          <a:solidFill>
            <a:srgbClr val="1C3849"/>
          </a:solidFill>
          <a:ln>
            <a:solidFill>
              <a:srgbClr val="D29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28600" tIns="201168"/>
          <a:lstStyle/>
          <a:p>
            <a:pPr algn="ctr">
              <a:defRPr sz="1300" b="1">
                <a:solidFill>
                  <a:srgbClr val="D2974B"/>
                </a:solidFill>
                <a:latin typeface="Aptos"/>
              </a:defRPr>
            </a:pPr>
            <a:r>
              <a:t>PERGUNTAS DE NEGÓCIO</a:t>
            </a:r>
          </a:p>
          <a:p>
            <a:pPr>
              <a:spcBef>
                <a:spcPts val="800"/>
              </a:spcBef>
              <a:defRPr sz="1100">
                <a:solidFill>
                  <a:srgbClr val="F6EFE5"/>
                </a:solidFill>
                <a:latin typeface="Aptos"/>
              </a:defRPr>
            </a:pPr>
            <a:r>
              <a:t>01   Como o faturamento evolui mês a mês?</a:t>
            </a:r>
          </a:p>
          <a:p>
            <a:pPr>
              <a:spcBef>
                <a:spcPts val="800"/>
              </a:spcBef>
              <a:defRPr sz="1100">
                <a:solidFill>
                  <a:srgbClr val="F6EFE5"/>
                </a:solidFill>
                <a:latin typeface="Aptos"/>
              </a:defRPr>
            </a:pPr>
            <a:r>
              <a:t>02   Quais lojas e categorias geram mais receita?</a:t>
            </a:r>
          </a:p>
          <a:p>
            <a:pPr>
              <a:spcBef>
                <a:spcPts val="800"/>
              </a:spcBef>
              <a:defRPr sz="1100">
                <a:solidFill>
                  <a:srgbClr val="F6EFE5"/>
                </a:solidFill>
                <a:latin typeface="Aptos"/>
              </a:defRPr>
            </a:pPr>
            <a:r>
              <a:t>03   Quais produtos têm maior lucro e margem?</a:t>
            </a:r>
          </a:p>
          <a:p>
            <a:pPr>
              <a:spcBef>
                <a:spcPts val="800"/>
              </a:spcBef>
              <a:defRPr sz="1100">
                <a:solidFill>
                  <a:srgbClr val="F6EFE5"/>
                </a:solidFill>
                <a:latin typeface="Aptos"/>
              </a:defRPr>
            </a:pPr>
            <a:r>
              <a:t>04   As lojas atingem suas metas mensais?</a:t>
            </a:r>
          </a:p>
          <a:p>
            <a:pPr>
              <a:spcBef>
                <a:spcPts val="800"/>
              </a:spcBef>
              <a:defRPr sz="1100">
                <a:solidFill>
                  <a:srgbClr val="F6EFE5"/>
                </a:solidFill>
                <a:latin typeface="Aptos"/>
              </a:defRPr>
            </a:pPr>
            <a:r>
              <a:t>05   Como descontos e formas de pagamento se comportam?</a:t>
            </a:r>
          </a:p>
          <a:p>
            <a:pPr>
              <a:spcBef>
                <a:spcPts val="800"/>
              </a:spcBef>
              <a:defRPr sz="1100">
                <a:solidFill>
                  <a:srgbClr val="F6EFE5"/>
                </a:solidFill>
                <a:latin typeface="Aptos"/>
              </a:defRPr>
            </a:pPr>
            <a:r>
              <a:t>06   Quais oportunidades podem melhorar o desempenho comercial?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CDD8DC"/>
                </a:solidFill>
                <a:latin typeface="Aptos"/>
              </a:defRPr>
            </a:pPr>
            <a:r>
              <a:t>ANÁLISE DE DADOS  •  VISÃO COMERCIAL  •  PORTFÓLIO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